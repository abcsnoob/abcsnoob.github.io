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audio" Target="../media/audio1.wav"/><Relationship Id="rId3" Type="http://schemas.openxmlformats.org/officeDocument/2006/relationships/slide" Target="slide3.xml"/><Relationship Id="rId2" Type="http://schemas.openxmlformats.org/officeDocument/2006/relationships/image" Target="../media/image1.png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slide" Target="slide1.xml"/><Relationship Id="rId3" Type="http://schemas.openxmlformats.org/officeDocument/2006/relationships/hyperlink" Target="https://x.com/hashtag/FreeSchlep" TargetMode="External"/><Relationship Id="rId2" Type="http://schemas.openxmlformats.org/officeDocument/2006/relationships/hyperlink" Target="https://chatgpt.com/share/68d68c6d-7800-8013-8ae6-2e1f4d8400c8" TargetMode="External"/><Relationship Id="rId1" Type="http://schemas.openxmlformats.org/officeDocument/2006/relationships/hyperlink" Target="https://x.com/RealSchlep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hyperlink" Target="https://lawbymike.com" TargetMode="Externa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hyperlink" Target="http://corp.roblox.com" TargetMode="External"/><Relationship Id="rId1" Type="http://schemas.openxmlformats.org/officeDocument/2006/relationships/hyperlink" Target="https://ithinkihaveacase.co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2.wav"/><Relationship Id="rId1" Type="http://schemas.openxmlformats.org/officeDocument/2006/relationships/image" Target="../media/image2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19175"/>
            <a:ext cx="76200" cy="95250"/>
          </a:xfrm>
        </p:spPr>
        <p:txBody>
          <a:bodyPr/>
          <a:lstStyle/>
          <a:p>
            <a:r>
              <a:rPr lang="vi-VN" altLang="en-US" dirty="0"/>
              <a:t> </a:t>
            </a:r>
            <a:endParaRPr lang="vi-V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76200" cy="103505"/>
          </a:xfrm>
        </p:spPr>
        <p:txBody>
          <a:bodyPr/>
          <a:lstStyle/>
          <a:p>
            <a:r>
              <a:rPr lang="vi-VN" altLang="en-US"/>
              <a:t> </a:t>
            </a:r>
            <a:endParaRPr lang="vi-VN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697865" y="763905"/>
            <a:ext cx="1114298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vi-VN" altLang="en-US" sz="6600">
                <a:latin typeface="Comfortaa" charset="0"/>
                <a:cs typeface="Comfortaa" charset="0"/>
              </a:rPr>
              <a:t>Lùm xùm của        Roblox:</a:t>
            </a:r>
            <a:endParaRPr lang="vi-VN" altLang="en-US" sz="6600">
              <a:latin typeface="Comfortaa" charset="0"/>
              <a:cs typeface="Comfortaa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789940" y="241427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  </a:t>
            </a:r>
            <a:r>
              <a:rPr lang="vi-VN" altLang="en-US">
                <a:hlinkClick r:id="rId1" tooltip="" action="ppaction://hlinksldjump"/>
              </a:rPr>
              <a:t>-Bê bối an toàn trẻ em</a:t>
            </a:r>
            <a:endParaRPr lang="vi-VN" altLang="en-US"/>
          </a:p>
          <a:p>
            <a:endParaRPr lang="vi-VN" altLang="en-US"/>
          </a:p>
        </p:txBody>
      </p:sp>
      <p:pic>
        <p:nvPicPr>
          <p:cNvPr id="12" name="Picture 11" descr="Roblox 2025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545" y="433070"/>
            <a:ext cx="1905000" cy="1905000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880110" y="29349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>
                <a:hlinkClick r:id="rId3" tooltip="" action="ppaction://hlinksldjump"/>
              </a:rPr>
              <a:t>-Lùm xùm trong pháp lí</a:t>
            </a:r>
            <a:endParaRPr lang="vi-V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/>
        <p:sndAc>
          <p:stSnd>
            <p:snd r:embed="rId4" name="push.wav"/>
          </p:stSnd>
        </p:sndAc>
      </p:transition>
    </mc:Choice>
    <mc:Fallback>
      <p:transition spd="slow">
        <p:wipe/>
        <p:sndAc>
          <p:stSnd>
            <p:snd r:embed="rId4" name="pu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pPr algn="ctr"/>
            <a:r>
              <a:rPr lang="vi-VN" altLang="en-US">
                <a:latin typeface="Comfortaa" charset="0"/>
                <a:cs typeface="Comfortaa" charset="0"/>
              </a:rPr>
              <a:t>BÊ BỐI AN TOÀN TRẺ EM TRÊN ROBLOX</a:t>
            </a:r>
            <a:endParaRPr lang="vi-VN" altLang="en-US">
              <a:latin typeface="Comfortaa" charset="0"/>
              <a:cs typeface="Comforta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vi-VN" altLang="en-US"/>
              <a:t>1. Về việc Roblox ban </a:t>
            </a:r>
            <a:r>
              <a:rPr lang="vi-VN" altLang="en-US">
                <a:hlinkClick r:id="rId1" tooltip="" action="ppaction://hlinkfile"/>
              </a:rPr>
              <a:t>Schlep</a:t>
            </a:r>
            <a:r>
              <a:rPr lang="vi-VN" altLang="en-US"/>
              <a:t>:</a:t>
            </a:r>
            <a:br>
              <a:rPr lang="vi-VN" altLang="en-US"/>
            </a:br>
            <a:r>
              <a:rPr lang="vi-VN" altLang="en-US"/>
              <a:t>Đây là 1 hành động cực kì ngu của Roblox.</a:t>
            </a:r>
            <a:br>
              <a:rPr lang="vi-VN" altLang="en-US"/>
            </a:br>
            <a:r>
              <a:rPr lang="vi-VN" altLang="en-US"/>
              <a:t>Schlep đã bắt 6 </a:t>
            </a:r>
            <a:r>
              <a:rPr lang="vi-VN" altLang="en-US">
                <a:hlinkClick r:id="rId2" tooltip="" action="ppaction://hlinkfile"/>
              </a:rPr>
              <a:t>kẻ săn mồi</a:t>
            </a:r>
            <a:r>
              <a:rPr lang="vi-VN" altLang="en-US"/>
              <a:t> và giao chúng cho cảnh sát</a:t>
            </a:r>
            <a:br>
              <a:rPr lang="vi-VN" altLang="en-US"/>
            </a:br>
            <a:r>
              <a:rPr lang="vi-VN" altLang="en-US"/>
              <a:t>Tuy vậy: Roblox đã nói anh ấy là “kẻ thực thi luật pháp ngoài vòng pháp luật” và ban IP luôn</a:t>
            </a:r>
            <a:br>
              <a:rPr lang="vi-VN" altLang="en-US"/>
            </a:br>
            <a:r>
              <a:rPr lang="vi-VN" altLang="en-US"/>
              <a:t>Vì thế nên Roblox mới bắt đầu bị cộng đồng lên án và đã dẫn tới hậu quả:</a:t>
            </a:r>
            <a:br>
              <a:rPr lang="vi-VN" altLang="en-US"/>
            </a:br>
            <a:r>
              <a:rPr lang="vi-VN" altLang="en-US"/>
              <a:t>Số lượng người dùng dùng hastag </a:t>
            </a:r>
            <a:r>
              <a:rPr lang="vi-VN" altLang="en-US">
                <a:hlinkClick r:id="rId3" tooltip="" action="ppaction://hlinkfile"/>
              </a:rPr>
              <a:t>#FreeSchlep</a:t>
            </a:r>
            <a:r>
              <a:rPr lang="vi-VN" altLang="en-US"/>
              <a:t> tăng cao trên X và Youtube</a:t>
            </a:r>
            <a:br>
              <a:rPr lang="vi-VN" altLang="en-US"/>
            </a:br>
            <a:r>
              <a:rPr lang="vi-VN" altLang="en-US"/>
              <a:t>Dẫn tới hậu quả pháp lí (</a:t>
            </a:r>
            <a:r>
              <a:rPr lang="vi-VN" altLang="en-US">
                <a:hlinkClick r:id="rId4" tooltip="" action="ppaction://hlinksldjump"/>
              </a:rPr>
              <a:t>trang tiếp theo</a:t>
            </a:r>
            <a:r>
              <a:rPr lang="vi-VN" altLang="en-US"/>
              <a:t>)</a:t>
            </a:r>
            <a:endParaRPr lang="vi-V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  <p:sndAc>
          <p:stSnd>
            <p:snd r:embed="rId5" name="push.wav"/>
          </p:stSnd>
        </p:sndAc>
      </p:transition>
    </mc:Choice>
    <mc:Fallback>
      <p:transition spd="slow">
        <p:wipe/>
        <p:sndAc>
          <p:stSnd>
            <p:snd r:embed="rId5" name="push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US">
                <a:latin typeface="Comfortaa" charset="0"/>
                <a:cs typeface="Comfortaa" charset="0"/>
              </a:rPr>
              <a:t>Lùm xùm về pháp lí của Roblox</a:t>
            </a:r>
            <a:endParaRPr lang="vi-VN" altLang="en-US">
              <a:latin typeface="Comfortaa" charset="0"/>
              <a:cs typeface="Comforta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vi-VN" altLang="en-US"/>
              <a:t>Tổng chưởng lí bang Lousiana đã kiện Roblox vì: Không bảo vệ tốt cho trẻ em bang này</a:t>
            </a:r>
            <a:br>
              <a:rPr lang="vi-VN" altLang="en-US"/>
            </a:br>
            <a:r>
              <a:rPr lang="vi-VN" altLang="en-US">
                <a:hlinkClick r:id="rId1" tooltip="" action="ppaction://hlinkfile"/>
              </a:rPr>
              <a:t>Law by Mike</a:t>
            </a:r>
            <a:r>
              <a:rPr lang="vi-VN" altLang="en-US"/>
              <a:t> đã tham gia vào vụ kiện tập thể(cùng với hơn 500 nạn nhân khác trên khắp nước Mỹ)</a:t>
            </a:r>
            <a:br>
              <a:rPr lang="vi-VN" altLang="en-US"/>
            </a:br>
            <a:br>
              <a:rPr lang="vi-VN" altLang="en-US"/>
            </a:br>
            <a:br>
              <a:rPr lang="vi-VN" altLang="en-US"/>
            </a:br>
            <a:r>
              <a:rPr lang="vi-VN" altLang="en-US"/>
              <a:t>Chúng ta sẽ sang trang tiếp theo để xem tài nguyên hữu ích nhé</a:t>
            </a:r>
            <a:br>
              <a:rPr lang="vi-VN" altLang="en-US"/>
            </a:br>
            <a:r>
              <a:rPr lang="vi-VN" altLang="en-US"/>
              <a:t>OwO.</a:t>
            </a:r>
            <a:endParaRPr lang="vi-V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  <p:sndAc>
          <p:stSnd>
            <p:snd r:embed="rId2" name="push.wav"/>
          </p:stSnd>
        </p:sndAc>
      </p:transition>
    </mc:Choice>
    <mc:Fallback>
      <p:transition spd="slow">
        <p:wipe/>
        <p:sndAc>
          <p:stSnd>
            <p:snd r:embed="rId2" name="push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US">
                <a:latin typeface="Comfortaa" charset="0"/>
                <a:cs typeface="Comfortaa" charset="0"/>
              </a:rPr>
              <a:t>Tài nguyên hữu ích cho bạn</a:t>
            </a:r>
            <a:endParaRPr lang="vi-VN" altLang="en-US">
              <a:latin typeface="Comfortaa" charset="0"/>
              <a:cs typeface="Comforta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vi-VN" altLang="en-US"/>
              <a:t>I think I have a Case: (</a:t>
            </a:r>
            <a:r>
              <a:rPr lang="vi-VN" altLang="en-US">
                <a:hlinkClick r:id="rId1" tooltip="" action="ppaction://hlinkfile"/>
              </a:rPr>
              <a:t>ithinkihaveacase.com</a:t>
            </a:r>
            <a:r>
              <a:rPr lang="vi-VN" altLang="en-US"/>
              <a:t>)</a:t>
            </a:r>
            <a:br>
              <a:rPr lang="vi-VN" altLang="en-US"/>
            </a:br>
            <a:r>
              <a:rPr lang="vi-VN" altLang="en-US"/>
              <a:t>Website Roblox: (</a:t>
            </a:r>
            <a:r>
              <a:rPr lang="vi-VN" altLang="en-US">
                <a:hlinkClick r:id="rId2" tooltip=""/>
              </a:rPr>
              <a:t>corp.roblox.com</a:t>
            </a:r>
            <a:r>
              <a:rPr lang="vi-VN" altLang="en-US"/>
              <a:t>)</a:t>
            </a:r>
            <a:br>
              <a:rPr lang="vi-VN" altLang="en-US"/>
            </a:br>
            <a:br>
              <a:rPr lang="vi-VN" altLang="en-US"/>
            </a:br>
            <a:br>
              <a:rPr lang="vi-VN" altLang="en-US"/>
            </a:br>
            <a:br>
              <a:rPr lang="vi-VN" altLang="en-US"/>
            </a:br>
            <a:r>
              <a:rPr lang="vi-VN" altLang="en-US"/>
              <a:t>Nào ta sang Q&amp;A(hỏi và trả </a:t>
            </a:r>
            <a:r>
              <a:rPr lang="vi-VN" altLang="en-US"/>
              <a:t>lời)</a:t>
            </a:r>
            <a:endParaRPr lang="vi-V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  <p:sndAc>
          <p:stSnd>
            <p:snd r:embed="rId3" name="push.wav"/>
          </p:stSnd>
        </p:sndAc>
      </p:transition>
    </mc:Choice>
    <mc:Fallback>
      <p:transition spd="slow">
        <p:wipe/>
        <p:sndAc>
          <p:stSnd>
            <p:snd r:embed="rId3" name="push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US">
                <a:latin typeface="Comfortaa" charset="0"/>
                <a:cs typeface="Comfortaa" charset="0"/>
              </a:rPr>
              <a:t>Q&amp;A(Hỏi và trả lời)</a:t>
            </a:r>
            <a:endParaRPr lang="vi-VN" altLang="en-US">
              <a:latin typeface="Comfortaa" charset="0"/>
              <a:cs typeface="Comforta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ctr"/>
            <a:r>
              <a:rPr lang="vi-VN" altLang="en-US" b="1">
                <a:latin typeface="Comfortaa SemiBold" charset="0"/>
                <a:cs typeface="Comfortaa SemiBold" charset="0"/>
              </a:rPr>
              <a:t>Bạn đang nghĩ gì</a:t>
            </a:r>
            <a:br>
              <a:rPr lang="vi-VN" altLang="en-US" b="1">
                <a:latin typeface="Comfortaa SemiBold" charset="0"/>
                <a:cs typeface="Comfortaa SemiBold" charset="0"/>
              </a:rPr>
            </a:br>
            <a:r>
              <a:rPr lang="vi-VN" altLang="en-US" b="1">
                <a:latin typeface="Comfortaa SemiBold" charset="0"/>
                <a:cs typeface="Comfortaa SemiBold" charset="0"/>
              </a:rPr>
              <a:t>Hỏi đi</a:t>
            </a:r>
            <a:br>
              <a:rPr lang="vi-VN" altLang="en-US" b="1">
                <a:latin typeface="Comfortaa SemiBold" charset="0"/>
                <a:cs typeface="Comfortaa SemiBold" charset="0"/>
              </a:rPr>
            </a:br>
            <a:r>
              <a:rPr lang="vi-VN" altLang="en-US" b="1">
                <a:latin typeface="Comfortaa SemiBold" charset="0"/>
                <a:cs typeface="Comfortaa SemiBold" charset="0"/>
              </a:rPr>
              <a:t>Cứ thoải mái</a:t>
            </a:r>
            <a:br>
              <a:rPr lang="vi-VN" altLang="en-US" b="1">
                <a:latin typeface="Comfortaa SemiBold" charset="0"/>
                <a:cs typeface="Comfortaa SemiBold" charset="0"/>
              </a:rPr>
            </a:br>
            <a:br>
              <a:rPr lang="vi-VN" altLang="en-US" b="1">
                <a:latin typeface="Comfortaa SemiBold" charset="0"/>
                <a:cs typeface="Comfortaa SemiBold" charset="0"/>
              </a:rPr>
            </a:br>
            <a:br>
              <a:rPr lang="vi-VN" altLang="en-US" b="1">
                <a:latin typeface="Comfortaa SemiBold" charset="0"/>
                <a:cs typeface="Comfortaa SemiBold" charset="0"/>
              </a:rPr>
            </a:br>
            <a:r>
              <a:rPr lang="vi-VN" altLang="en-US" b="1">
                <a:latin typeface="Comfortaa SemiBold" charset="0"/>
                <a:cs typeface="Comfortaa SemiBold" charset="0"/>
              </a:rPr>
              <a:t>5 phút </a:t>
            </a:r>
            <a:r>
              <a:rPr lang="vi-VN" altLang="en-US" b="1">
                <a:latin typeface="Comfortaa SemiBold" charset="0"/>
                <a:cs typeface="Comfortaa SemiBold" charset="0"/>
              </a:rPr>
              <a:t>nhé:</a:t>
            </a:r>
            <a:br>
              <a:rPr lang="vi-VN" altLang="en-US" b="1">
                <a:latin typeface="Comfortaa SemiBold" charset="0"/>
                <a:cs typeface="Comfortaa SemiBold" charset="0"/>
              </a:rPr>
            </a:br>
            <a:endParaRPr lang="vi-VN" altLang="en-US" b="1">
              <a:latin typeface="Comfortaa SemiBold" charset="0"/>
              <a:cs typeface="Comfortaa SemiBold" charset="0"/>
            </a:endParaRPr>
          </a:p>
        </p:txBody>
      </p:sp>
      <p:pic>
        <p:nvPicPr>
          <p:cNvPr id="4" name="Picture 3" descr="B2Tfpa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4502785"/>
            <a:ext cx="4876800" cy="1771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 invX="1"/>
        <p:sndAc>
          <p:stSnd>
            <p:snd r:embed="rId2" name="voltage.wav"/>
          </p:stSnd>
        </p:sndAc>
      </p:transition>
    </mc:Choice>
    <mc:Fallback>
      <p:transition spd="slow">
        <p:fade/>
        <p:sndAc>
          <p:stSnd>
            <p:snd r:embed="rId2" name="voltage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998</Words>
  <Application>WPS Presentation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0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Times New Roman</vt:lpstr>
      <vt:lpstr>Sitka Subheading Semibold</vt:lpstr>
      <vt:lpstr>Sylfaen</vt:lpstr>
      <vt:lpstr>Comic Sans MS</vt:lpstr>
      <vt:lpstr>Comfortaa</vt:lpstr>
      <vt:lpstr>Comfortaa Medium</vt:lpstr>
      <vt:lpstr>Comfortaa SemiBold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HAI DANG</cp:lastModifiedBy>
  <cp:revision>6</cp:revision>
  <dcterms:created xsi:type="dcterms:W3CDTF">2025-07-23T00:59:00Z</dcterms:created>
  <dcterms:modified xsi:type="dcterms:W3CDTF">2025-09-26T13:27:19Z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A0A21C4394AE4138912412907909E1DD_11</vt:lpwstr>
  </property>
  <property fmtid="{D5CDD505-2E9C-101B-9397-08002B2CF9AE}" pid="3" name="KSOProductBuildVer">
    <vt:lpwstr>1033-12.2.0.22556</vt:lpwstr>
  </property>
</Properties>
</file>